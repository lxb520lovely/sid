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</p:sldIdLst>
  <p:sldSz cx="12192000" cy="6858000"/>
  <p:notesSz cx="6858000" cy="9144000"/>
  <p:embeddedFontLst>
    <p:embeddedFont>
      <p:font typeface="Avenir Next" panose="020B0803020202020204"/>
      <p:regular r:id="rId11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20AFC1"/>
          </a:solidFill>
          <a:ln w="0"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00" b="1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 I G E R</a:t>
            </a:r>
            <a:endParaRPr sz="600" b="1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23900"/>
            <a:ext cx="876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lang="en-US"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Google  </a:t>
            </a:r>
            <a:r>
              <a:rPr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TIGER：论文图本身就分成两步，先生成 Semantic ID，再做 Seq2Seq 生成召回。</a:t>
            </a:r>
            <a:endParaRPr sz="2175" b="1">
              <a:solidFill>
                <a:srgbClr val="111418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620165"/>
            <a:ext cx="7810500" cy="302712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858250" y="1619250"/>
            <a:ext cx="247650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858250" y="1619250"/>
            <a:ext cx="323850" cy="838200"/>
          </a:xfrm>
          <a:prstGeom prst="rect">
            <a:avLst/>
          </a:prstGeom>
          <a:solidFill>
            <a:srgbClr val="20AFC1"/>
          </a:solidFill>
          <a:ln w="0"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858250" y="187642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1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315450" y="175260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Item → Semantic ID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315450" y="1990725"/>
            <a:ext cx="186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左半图：内容特征经过 encoder 和 quantization，得到离散 Semantic ID。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858250" y="2609850"/>
            <a:ext cx="247650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858250" y="2609850"/>
            <a:ext cx="323850" cy="838200"/>
          </a:xfrm>
          <a:prstGeom prst="rect">
            <a:avLst/>
          </a:prstGeom>
          <a:solidFill>
            <a:srgbClr val="E7A934"/>
          </a:solidFill>
          <a:ln w="0"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858250" y="286702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2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315450" y="274320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History → tokens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315450" y="2981325"/>
            <a:ext cx="186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右半图底部：用户历史 item 被替换成 SID token 序列，作为 encoder 输入。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858250" y="3600450"/>
            <a:ext cx="247650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858250" y="3600450"/>
            <a:ext cx="323850" cy="838200"/>
          </a:xfrm>
          <a:prstGeom prst="rect">
            <a:avLst/>
          </a:prstGeom>
          <a:solidFill>
            <a:srgbClr val="58A96F"/>
          </a:solidFill>
          <a:ln w="0"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858250" y="385762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3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315450" y="373380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Decoder generates ID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15450" y="3971925"/>
            <a:ext cx="1866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Transformer decoder 自回归输出下一 item 的 Semantic ID，再映射回真实 item。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5886450"/>
            <a:ext cx="9810750" cy="342900"/>
          </a:xfrm>
          <a:prstGeom prst="rect">
            <a:avLst/>
          </a:prstGeom>
          <a:solidFill>
            <a:srgbClr val="172027"/>
          </a:solidFill>
          <a:ln w="0"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90600" y="598170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1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内容表征 → 量化 SID → 用户历史 token 化 → decoder 生成 next item SID。</a:t>
            </a:r>
            <a:endParaRPr sz="101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CFC6B8"/>
          </a:solidFill>
          <a:ln w="0"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653415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5" b="0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endParaRPr sz="565" b="0">
              <a:solidFill>
                <a:srgbClr val="7D766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39500" y="649605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01</a:t>
            </a:r>
            <a:endParaRPr sz="750" b="1">
              <a:solidFill>
                <a:srgbClr val="7D766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42950" y="5615305"/>
            <a:ext cx="9810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Rajput, Shashank, et al. "Recommender systems with generative retrieval." Advances in Neural Information Processing Systems 36 (2023): 10299-10315.</a:t>
            </a:r>
            <a:endParaRPr lang="en-US" altLang="zh-CN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E7A934"/>
          </a:solidFill>
          <a:ln w="0"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00" b="1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 N E R E C</a:t>
            </a:r>
            <a:endParaRPr sz="600" b="1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23900"/>
            <a:ext cx="876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lang="en-US"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Kuaishou  </a:t>
            </a:r>
            <a:r>
              <a:rPr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OneRec：生成式架构</a:t>
            </a:r>
            <a:r>
              <a:rPr lang="en-US"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+</a:t>
            </a:r>
            <a:r>
              <a:rPr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偏好对齐</a:t>
            </a:r>
            <a:endParaRPr sz="2175" b="1">
              <a:solidFill>
                <a:srgbClr val="111418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20" y="1391920"/>
            <a:ext cx="7378700" cy="4338955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648700" y="1485900"/>
            <a:ext cx="285750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1485900"/>
            <a:ext cx="323850" cy="838200"/>
          </a:xfrm>
          <a:prstGeom prst="rect">
            <a:avLst/>
          </a:prstGeom>
          <a:solidFill>
            <a:srgbClr val="E7A934"/>
          </a:solidFill>
          <a:ln w="0"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648700" y="17430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1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05900" y="161925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上半图：Encoder-Decoder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05900" y="185737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用户行为序列进 encoder，decoder 通过 cross-attention 读取 H。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48700" y="2609850"/>
            <a:ext cx="285750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48700" y="2609850"/>
            <a:ext cx="323850" cy="838200"/>
          </a:xfrm>
          <a:prstGeom prst="rect">
            <a:avLst/>
          </a:prstGeom>
          <a:solidFill>
            <a:srgbClr val="20AFC1"/>
          </a:solidFill>
          <a:ln w="0"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48700" y="286702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2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05900" y="274320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Decoder 内部：MoE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05900" y="29813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decoder 先 causal self-attn，再 fully visible cross-attn，最后进入 MoE layer。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3733800"/>
            <a:ext cx="285750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648700" y="3733800"/>
            <a:ext cx="323850" cy="838200"/>
          </a:xfrm>
          <a:prstGeom prst="rect">
            <a:avLst/>
          </a:prstGeom>
          <a:solidFill>
            <a:srgbClr val="58A96F"/>
          </a:solidFill>
          <a:ln w="0"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648700" y="39909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3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05900" y="386715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下半图：IPA/DPO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05900" y="410527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beam search 产生多个 session，reward model 选 chosen/rejected，再 DPO 训练下一轮 OneRec。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5886450"/>
            <a:ext cx="9810750" cy="342900"/>
          </a:xfrm>
          <a:prstGeom prst="rect">
            <a:avLst/>
          </a:prstGeom>
          <a:solidFill>
            <a:srgbClr val="172027"/>
          </a:solidFill>
          <a:ln w="0"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90600" y="598170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1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OneRec 不是生成单个 item，而是生成 high-value session 的 SID token 序列。</a:t>
            </a:r>
            <a:endParaRPr sz="101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CFC6B8"/>
          </a:solidFill>
          <a:ln w="0"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653415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5" b="0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565" b="0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Figure source: OneRec architecture and Iterative Preference Alignment</a:t>
            </a:r>
            <a:endParaRPr sz="565" b="0">
              <a:solidFill>
                <a:srgbClr val="7D766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39500" y="649605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0</a:t>
            </a:r>
            <a:r>
              <a:rPr lang="en-US"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2</a:t>
            </a:r>
            <a:endParaRPr lang="en-US" sz="750" b="1">
              <a:solidFill>
                <a:srgbClr val="7D766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23900" y="5678805"/>
            <a:ext cx="981075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Deng, Jiaxin, et al. "Onerec: Unifying retrieve and rank with generative recommender and iterative preference alignment." arXiv preprint arXiv:2502.18965 (2025).</a:t>
            </a:r>
            <a:endParaRPr lang="en-US" altLang="zh-C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58A96F"/>
          </a:solidFill>
          <a:ln w="0"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00" b="1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 A N K M I X E R</a:t>
            </a:r>
            <a:endParaRPr sz="600" b="1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23900"/>
            <a:ext cx="876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lang="en-US"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Bytedance  </a:t>
            </a:r>
            <a:r>
              <a:rPr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RankMixer：左边是主干 block，右边展开 token mixing 与 Sparse-MoE PFFN。</a:t>
            </a:r>
            <a:endParaRPr sz="2175" b="1">
              <a:solidFill>
                <a:srgbClr val="111418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30" y="1391920"/>
            <a:ext cx="7266940" cy="42735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648700" y="1447800"/>
            <a:ext cx="285750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648700" y="1447800"/>
            <a:ext cx="323850" cy="838200"/>
          </a:xfrm>
          <a:prstGeom prst="rect">
            <a:avLst/>
          </a:prstGeom>
          <a:solidFill>
            <a:srgbClr val="58A96F"/>
          </a:solidFill>
          <a:ln w="0"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648700" y="17049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1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105900" y="158115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输入：hundreds of feature embeddings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105900" y="1950720"/>
            <a:ext cx="247586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user profile、video features、sequence features、interacted features 先 tokenization。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48700" y="2571750"/>
            <a:ext cx="285750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48700" y="2571750"/>
            <a:ext cx="323850" cy="838200"/>
          </a:xfrm>
          <a:prstGeom prst="rect">
            <a:avLst/>
          </a:prstGeom>
          <a:solidFill>
            <a:srgbClr val="20AFC1"/>
          </a:solidFill>
          <a:ln w="0"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648700" y="282892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2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05900" y="270510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核心：RankMixer Block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105900" y="294322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Token Mixing → Add&amp;Norm → Per-token FFN → Add&amp;Norm，堆 L 层。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648700" y="3695700"/>
            <a:ext cx="285750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648700" y="3695700"/>
            <a:ext cx="323850" cy="838200"/>
          </a:xfrm>
          <a:prstGeom prst="rect">
            <a:avLst/>
          </a:prstGeom>
          <a:solidFill>
            <a:srgbClr val="E7A934"/>
          </a:solidFill>
          <a:ln w="0"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648700" y="39528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3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05900" y="3829050"/>
            <a:ext cx="2247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右侧：两个展开结构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105900" y="4067175"/>
            <a:ext cx="2247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下方解释 token mixing 怎么 split/merge；上方解释 PFFN 的 Sparse-MoE variant。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5886450"/>
            <a:ext cx="9810750" cy="342900"/>
          </a:xfrm>
          <a:prstGeom prst="rect">
            <a:avLst/>
          </a:prstGeom>
          <a:solidFill>
            <a:srgbClr val="172027"/>
          </a:solidFill>
          <a:ln w="0"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90600" y="598170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1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RankMixer 不是生成式召回，而是 ranking 侧的大模型化特征交互 backbone。</a:t>
            </a:r>
            <a:endParaRPr sz="101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CFC6B8"/>
          </a:solidFill>
          <a:ln w="0"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653415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5" b="0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565" b="0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Figure source: RankMixer architecture</a:t>
            </a:r>
            <a:endParaRPr sz="565" b="0">
              <a:solidFill>
                <a:srgbClr val="7D766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39500" y="649605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0</a:t>
            </a:r>
            <a:r>
              <a:rPr lang="en-US"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3</a:t>
            </a:r>
            <a:endParaRPr lang="en-US" sz="750" b="1">
              <a:solidFill>
                <a:srgbClr val="7D766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23900" y="5678805"/>
            <a:ext cx="109347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Zhu, Jie, et al. "Rankmixer: Scaling up ranking models in industrial recommenders." Proceedings of the 34th ACM International Conference on Information and Knowledge Management. 2025.</a:t>
            </a:r>
            <a:endParaRPr lang="en-US" altLang="zh-CN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 w="0"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400050"/>
            <a:ext cx="85725" cy="85725"/>
          </a:xfrm>
          <a:prstGeom prst="rect">
            <a:avLst/>
          </a:prstGeom>
          <a:solidFill>
            <a:srgbClr val="E66D51"/>
          </a:solidFill>
          <a:ln w="0"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352425"/>
            <a:ext cx="400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00" b="1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600" b="1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U N I R E C</a:t>
            </a:r>
            <a:endParaRPr sz="600" b="1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33400" y="723900"/>
            <a:ext cx="876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defRPr>
            </a:pPr>
            <a:r>
              <a:rPr lang="en-US"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Shopee  </a:t>
            </a:r>
            <a:r>
              <a:rPr sz="2175" b="1">
                <a:solidFill>
                  <a:srgbClr val="111418"/>
                </a:solidFill>
                <a:latin typeface="Georgia" panose="02040502050405090303"/>
                <a:ea typeface="Georgia" panose="02040502050405090303"/>
                <a:cs typeface="Georgia" panose="02040502050405090303"/>
              </a:rPr>
              <a:t>UniRec：上方是容量受限 SID tokenizer，中间是架构，下方是 RFT/DPO 对齐。</a:t>
            </a:r>
            <a:endParaRPr sz="2175" b="1">
              <a:solidFill>
                <a:srgbClr val="111418"/>
              </a:solidFill>
              <a:latin typeface="Georgia" panose="02040502050405090303"/>
              <a:ea typeface="Georgia" panose="02040502050405090303"/>
              <a:cs typeface="Georgia" panose="02040502050405090303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985" y="1438275"/>
            <a:ext cx="7169785" cy="40386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229600" y="1428750"/>
            <a:ext cx="314325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29600" y="1428750"/>
            <a:ext cx="323850" cy="838200"/>
          </a:xfrm>
          <a:prstGeom prst="rect">
            <a:avLst/>
          </a:prstGeom>
          <a:solidFill>
            <a:srgbClr val="E66D51"/>
          </a:solidFill>
          <a:ln w="0"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229600" y="168592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1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686800" y="156210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Tokenizer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686800" y="1800225"/>
            <a:ext cx="2533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多模态 embedding → RQ-KMeans → codebook；再用 capacity constraint 修复路径拥挤。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29600" y="2552700"/>
            <a:ext cx="314325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229600" y="2552700"/>
            <a:ext cx="323850" cy="838200"/>
          </a:xfrm>
          <a:prstGeom prst="rect">
            <a:avLst/>
          </a:prstGeom>
          <a:solidFill>
            <a:srgbClr val="20AFC1"/>
          </a:solidFill>
          <a:ln w="0"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229600" y="280987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2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686800" y="268605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Decoder + Gated-CrossAttn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686800" y="2924175"/>
            <a:ext cx="2533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用户序列和 SID 序列作为 K/V，生成 prefix query，并经过 MMOE-FFN。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29600" y="3676650"/>
            <a:ext cx="3143250" cy="838200"/>
          </a:xfrm>
          <a:prstGeom prst="rect">
            <a:avLst/>
          </a:prstGeom>
          <a:solidFill>
            <a:srgbClr val="FFFFFF"/>
          </a:solidFill>
          <a:ln w="0"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29600" y="3676650"/>
            <a:ext cx="323850" cy="838200"/>
          </a:xfrm>
          <a:prstGeom prst="rect">
            <a:avLst/>
          </a:prstGeom>
          <a:solidFill>
            <a:srgbClr val="58A96F"/>
          </a:solidFill>
          <a:ln w="0"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229600" y="3933825"/>
            <a:ext cx="323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7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3</a:t>
            </a:r>
            <a:endParaRPr sz="127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686800" y="3810000"/>
            <a:ext cx="2533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200" b="1">
                <a:solidFill>
                  <a:srgbClr val="11141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Hierarchical Rank Head</a:t>
            </a:r>
            <a:endParaRPr sz="1200" b="1">
              <a:solidFill>
                <a:srgbClr val="11141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686800" y="4048125"/>
            <a:ext cx="2533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900" b="0">
                <a:solidFill>
                  <a:srgbClr val="5D6468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按 CoA 生成 attribute，再生成 s0/s1/s2，content summary 参与条件解码。</a:t>
            </a:r>
            <a:endParaRPr sz="900" b="0">
              <a:solidFill>
                <a:srgbClr val="5D6468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5886450"/>
            <a:ext cx="9810750" cy="342900"/>
          </a:xfrm>
          <a:prstGeom prst="rect">
            <a:avLst/>
          </a:prstGeom>
          <a:solidFill>
            <a:srgbClr val="172027"/>
          </a:solidFill>
          <a:ln w="0"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90600" y="5981700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1015" b="1">
                <a:solidFill>
                  <a:srgbClr val="FFFFFF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UniRec 用 Chain-of-Attribute 补足生成式推荐对 item-side features 的表达。</a:t>
            </a:r>
            <a:endParaRPr sz="1015" b="1">
              <a:solidFill>
                <a:srgbClr val="FFFFFF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" y="6429375"/>
            <a:ext cx="11125200" cy="9525"/>
          </a:xfrm>
          <a:prstGeom prst="rect">
            <a:avLst/>
          </a:prstGeom>
          <a:solidFill>
            <a:srgbClr val="CFC6B8"/>
          </a:solidFill>
          <a:ln w="0"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33400" y="6534150"/>
            <a:ext cx="9906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5" b="0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565" b="0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Figure source: UniRec architecture</a:t>
            </a:r>
            <a:endParaRPr sz="565" b="0">
              <a:solidFill>
                <a:srgbClr val="7D766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239500" y="6496050"/>
            <a:ext cx="4191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defRPr>
            </a:pPr>
            <a:r>
              <a:rPr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0</a:t>
            </a:r>
            <a:r>
              <a:rPr lang="en-US" sz="750" b="1">
                <a:solidFill>
                  <a:srgbClr val="7D766E"/>
                </a:solidFill>
                <a:latin typeface="Avenir Next" panose="020B0803020202020204"/>
                <a:ea typeface="Avenir Next" panose="020B0803020202020204"/>
                <a:cs typeface="Avenir Next" panose="020B0803020202020204"/>
              </a:rPr>
              <a:t>4</a:t>
            </a:r>
            <a:endParaRPr lang="en-US" sz="750" b="1">
              <a:solidFill>
                <a:srgbClr val="7D766E"/>
              </a:solidFill>
              <a:latin typeface="Avenir Next" panose="020B0803020202020204"/>
              <a:ea typeface="Avenir Next" panose="020B0803020202020204"/>
              <a:cs typeface="Avenir Next" panose="020B08030202020202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23900" y="5678805"/>
            <a:ext cx="1093470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Wang, Ziliang, et al. "UniRec: Bridging the Expressive Gap between Generative and Discriminative Recommendation via Chain-of-Attribute." arXiv preprint arXiv:2604.12234 (2026).</a:t>
            </a:r>
            <a:endParaRPr lang="en-US" altLang="zh-CN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2245</Words>
  <Application>WPS 文字</Application>
  <PresentationFormat>Converted Presentation</PresentationFormat>
  <Paragraphs>118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Avenir Next</vt:lpstr>
      <vt:lpstr>Georgia</vt:lpstr>
      <vt:lpstr>汉仪书宋二KW</vt:lpstr>
      <vt:lpstr>宋体</vt:lpstr>
      <vt:lpstr>微软雅黑</vt:lpstr>
      <vt:lpstr>汉仪旗黑</vt:lpstr>
      <vt:lpstr>Arial Unicode MS</vt:lpstr>
      <vt:lpstr>Calibri</vt:lpstr>
      <vt:lpstr>Helvetica Neue</vt:lpstr>
      <vt:lpstr>Avenir Next</vt:lpstr>
      <vt:lpstr>Georgia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耻。</cp:lastModifiedBy>
  <cp:revision>4</cp:revision>
  <dcterms:created xsi:type="dcterms:W3CDTF">2026-05-19T08:00:52Z</dcterms:created>
  <dcterms:modified xsi:type="dcterms:W3CDTF">2026-05-19T08:00:52Z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C0EAACB4229E46C62DE00B6AD088CF43_42</vt:lpwstr>
  </property>
</Properties>
</file>